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8"/>
  </p:notesMasterIdLst>
  <p:handoutMasterIdLst>
    <p:handoutMasterId r:id="rId29"/>
  </p:handoutMasterIdLst>
  <p:sldIdLst>
    <p:sldId id="256" r:id="rId5"/>
    <p:sldId id="277" r:id="rId6"/>
    <p:sldId id="262" r:id="rId7"/>
    <p:sldId id="289" r:id="rId8"/>
    <p:sldId id="264" r:id="rId9"/>
    <p:sldId id="258" r:id="rId10"/>
    <p:sldId id="278" r:id="rId11"/>
    <p:sldId id="266" r:id="rId12"/>
    <p:sldId id="292" r:id="rId13"/>
    <p:sldId id="301" r:id="rId14"/>
    <p:sldId id="268" r:id="rId15"/>
    <p:sldId id="295" r:id="rId16"/>
    <p:sldId id="296" r:id="rId17"/>
    <p:sldId id="302" r:id="rId18"/>
    <p:sldId id="270" r:id="rId19"/>
    <p:sldId id="293" r:id="rId20"/>
    <p:sldId id="260" r:id="rId21"/>
    <p:sldId id="297" r:id="rId22"/>
    <p:sldId id="298" r:id="rId23"/>
    <p:sldId id="282" r:id="rId24"/>
    <p:sldId id="299" r:id="rId25"/>
    <p:sldId id="300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497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1269" y="705948"/>
            <a:ext cx="7085719" cy="1916936"/>
          </a:xfrm>
        </p:spPr>
        <p:txBody>
          <a:bodyPr/>
          <a:lstStyle/>
          <a:p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Software to Hardware:</a:t>
            </a:r>
            <a:br>
              <a:rPr lang="en-US" sz="4000" dirty="0"/>
            </a:br>
            <a:r>
              <a:rPr lang="en-US" sz="4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Side-Channel Attacks on Ascon-128 via FPGA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034" y="5147543"/>
            <a:ext cx="5320804" cy="1413677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By: </a:t>
            </a:r>
            <a:r>
              <a:rPr lang="en-US" sz="2400" dirty="0"/>
              <a:t>Rupesh Hemant Bhusare, 2203106</a:t>
            </a:r>
          </a:p>
          <a:p>
            <a:r>
              <a:rPr lang="en-US" sz="2400" b="1" dirty="0"/>
              <a:t>Guided by: </a:t>
            </a:r>
            <a:r>
              <a:rPr lang="en-US" sz="2400" dirty="0"/>
              <a:t>Prof. Sharad Sinha</a:t>
            </a:r>
          </a:p>
          <a:p>
            <a:r>
              <a:rPr lang="en-US" sz="2400" dirty="0"/>
              <a:t>Indian Institute of Technology, Goa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0EBB5A7-2237-9B2E-51FE-C6C38F8B4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74" y="600576"/>
            <a:ext cx="207645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973" y="0"/>
            <a:ext cx="3171825" cy="1325563"/>
          </a:xfrm>
        </p:spPr>
        <p:txBody>
          <a:bodyPr>
            <a:normAutofit/>
          </a:bodyPr>
          <a:lstStyle/>
          <a:p>
            <a:r>
              <a:rPr lang="en-US" sz="4400" b="1" dirty="0"/>
              <a:t>Agenda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ACC9DC4-996B-DC02-47B4-87E0887A6FFB}"/>
              </a:ext>
            </a:extLst>
          </p:cNvPr>
          <p:cNvSpPr/>
          <p:nvPr/>
        </p:nvSpPr>
        <p:spPr>
          <a:xfrm>
            <a:off x="1023194" y="1524557"/>
            <a:ext cx="4513111" cy="722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1. Problem Statement</a:t>
            </a:r>
            <a:endParaRPr lang="en-US" sz="20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00D6795-36E9-25C9-3A36-8328BBB3D467}"/>
              </a:ext>
            </a:extLst>
          </p:cNvPr>
          <p:cNvSpPr/>
          <p:nvPr/>
        </p:nvSpPr>
        <p:spPr>
          <a:xfrm>
            <a:off x="1023192" y="1898734"/>
            <a:ext cx="4513111" cy="608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07080"/>
                </a:solidFill>
                <a:ea typeface="Calibri" pitchFamily="34" charset="-122"/>
                <a:cs typeface="Calibri" pitchFamily="34" charset="-120"/>
              </a:rPr>
              <a:t>Why physical security matters</a:t>
            </a:r>
            <a:endParaRPr lang="en-US" sz="2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F1879E2-4241-E32E-6E35-EABE5B74326F}"/>
              </a:ext>
            </a:extLst>
          </p:cNvPr>
          <p:cNvSpPr/>
          <p:nvPr/>
        </p:nvSpPr>
        <p:spPr>
          <a:xfrm>
            <a:off x="1023193" y="2660252"/>
            <a:ext cx="4513111" cy="722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2. Phase 1 Recap (Software SCA)</a:t>
            </a:r>
            <a:endParaRPr lang="en-US" sz="2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C839D80-59CC-FD7F-EFA9-B44AC67A1A5D}"/>
              </a:ext>
            </a:extLst>
          </p:cNvPr>
          <p:cNvSpPr/>
          <p:nvPr/>
        </p:nvSpPr>
        <p:spPr>
          <a:xfrm>
            <a:off x="1023191" y="3035879"/>
            <a:ext cx="4513111" cy="608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07080"/>
                </a:solidFill>
                <a:ea typeface="Calibri" pitchFamily="34" charset="-122"/>
                <a:cs typeface="Calibri" pitchFamily="34" charset="-120"/>
              </a:rPr>
              <a:t>CW Nano + SPA/DPA/CPA on AES</a:t>
            </a:r>
            <a:endParaRPr lang="en-US" sz="20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5F62ACC-9201-FAA9-65FD-BEA3F97A713C}"/>
              </a:ext>
            </a:extLst>
          </p:cNvPr>
          <p:cNvSpPr/>
          <p:nvPr/>
        </p:nvSpPr>
        <p:spPr>
          <a:xfrm>
            <a:off x="1023189" y="3686548"/>
            <a:ext cx="4513111" cy="722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3. The Hardware Leap</a:t>
            </a:r>
            <a:endParaRPr lang="en-US" sz="20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FB6CAB7-41A2-FCE5-DBDF-4A51B41A103C}"/>
              </a:ext>
            </a:extLst>
          </p:cNvPr>
          <p:cNvSpPr/>
          <p:nvPr/>
        </p:nvSpPr>
        <p:spPr>
          <a:xfrm>
            <a:off x="1023188" y="4062431"/>
            <a:ext cx="4513111" cy="608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07080"/>
                </a:solidFill>
                <a:ea typeface="Calibri" pitchFamily="34" charset="-122"/>
                <a:cs typeface="Calibri" pitchFamily="34" charset="-120"/>
              </a:rPr>
              <a:t>Moving to FPGA (CW305 Artix-7)</a:t>
            </a:r>
            <a:endParaRPr lang="en-US" sz="20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2347D52-35A9-17EB-0FFD-3D485025DAEA}"/>
              </a:ext>
            </a:extLst>
          </p:cNvPr>
          <p:cNvSpPr/>
          <p:nvPr/>
        </p:nvSpPr>
        <p:spPr>
          <a:xfrm>
            <a:off x="1023188" y="4706847"/>
            <a:ext cx="4513111" cy="722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4. Ascon-128 &amp; HLS Workflow</a:t>
            </a:r>
            <a:endParaRPr lang="en-US" sz="20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D506038-D88A-FACD-C90F-64E3AC2A2552}"/>
              </a:ext>
            </a:extLst>
          </p:cNvPr>
          <p:cNvSpPr/>
          <p:nvPr/>
        </p:nvSpPr>
        <p:spPr>
          <a:xfrm>
            <a:off x="1023188" y="5078524"/>
            <a:ext cx="4513111" cy="608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07080"/>
                </a:solidFill>
                <a:ea typeface="Calibri" pitchFamily="34" charset="-122"/>
                <a:cs typeface="Calibri" pitchFamily="34" charset="-120"/>
              </a:rPr>
              <a:t>NIST standard + Vitis HLS</a:t>
            </a:r>
            <a:endParaRPr lang="en-US" sz="20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BF5BE4E4-809D-8A2F-0CA4-C8B4F9ECDF3B}"/>
              </a:ext>
            </a:extLst>
          </p:cNvPr>
          <p:cNvSpPr/>
          <p:nvPr/>
        </p:nvSpPr>
        <p:spPr>
          <a:xfrm>
            <a:off x="6491773" y="2146058"/>
            <a:ext cx="4513111" cy="722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5. Design Space Exploration</a:t>
            </a:r>
            <a:endParaRPr lang="en-US" sz="20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E4D93EF-9AE3-1762-7132-9883A755C453}"/>
              </a:ext>
            </a:extLst>
          </p:cNvPr>
          <p:cNvSpPr/>
          <p:nvPr/>
        </p:nvSpPr>
        <p:spPr>
          <a:xfrm>
            <a:off x="6491773" y="2520962"/>
            <a:ext cx="4513111" cy="608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07080"/>
                </a:solidFill>
                <a:ea typeface="Calibri" pitchFamily="34" charset="-122"/>
                <a:cs typeface="Calibri" pitchFamily="34" charset="-120"/>
              </a:rPr>
              <a:t>4 architectures benchmarked</a:t>
            </a:r>
            <a:endParaRPr lang="en-US" sz="200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19185DE5-8BFF-35F3-1C90-EE1DA76C50EB}"/>
              </a:ext>
            </a:extLst>
          </p:cNvPr>
          <p:cNvSpPr/>
          <p:nvPr/>
        </p:nvSpPr>
        <p:spPr>
          <a:xfrm>
            <a:off x="6491773" y="3106178"/>
            <a:ext cx="4513111" cy="722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6. Results &amp; Selection</a:t>
            </a:r>
            <a:endParaRPr lang="en-US" sz="20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FA5E998D-DF7B-24D9-6D37-E39A8036D73C}"/>
              </a:ext>
            </a:extLst>
          </p:cNvPr>
          <p:cNvSpPr/>
          <p:nvPr/>
        </p:nvSpPr>
        <p:spPr>
          <a:xfrm>
            <a:off x="6491773" y="3481082"/>
            <a:ext cx="4513111" cy="608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07080"/>
                </a:solidFill>
                <a:ea typeface="Calibri" pitchFamily="34" charset="-122"/>
                <a:cs typeface="Calibri" pitchFamily="34" charset="-120"/>
              </a:rPr>
              <a:t>Winning architecture for SCA</a:t>
            </a:r>
            <a:endParaRPr lang="en-US" sz="20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AD5C6043-4002-8EE8-5A1C-C128B8E76725}"/>
              </a:ext>
            </a:extLst>
          </p:cNvPr>
          <p:cNvSpPr/>
          <p:nvPr/>
        </p:nvSpPr>
        <p:spPr>
          <a:xfrm>
            <a:off x="6491773" y="4066298"/>
            <a:ext cx="4513111" cy="722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7. Future Roadmap</a:t>
            </a:r>
            <a:endParaRPr lang="en-US" sz="20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86A5C59A-98B7-3557-FEAF-2653A7001A6F}"/>
              </a:ext>
            </a:extLst>
          </p:cNvPr>
          <p:cNvSpPr/>
          <p:nvPr/>
        </p:nvSpPr>
        <p:spPr>
          <a:xfrm>
            <a:off x="6491773" y="4441202"/>
            <a:ext cx="4513111" cy="6087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07080"/>
                </a:solidFill>
                <a:ea typeface="Calibri" pitchFamily="34" charset="-122"/>
                <a:cs typeface="Calibri" pitchFamily="34" charset="-120"/>
              </a:rPr>
              <a:t>Next steps to complete the attack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63" y="452608"/>
            <a:ext cx="9785684" cy="728076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the security flaw in physical devices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AC7106-1028-FD7B-75B1-FD999469C9A7}"/>
              </a:ext>
            </a:extLst>
          </p:cNvPr>
          <p:cNvCxnSpPr>
            <a:cxnSpLocks/>
          </p:cNvCxnSpPr>
          <p:nvPr/>
        </p:nvCxnSpPr>
        <p:spPr>
          <a:xfrm>
            <a:off x="6096000" y="1645920"/>
            <a:ext cx="0" cy="283464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4">
            <a:extLst>
              <a:ext uri="{FF2B5EF4-FFF2-40B4-BE49-F238E27FC236}">
                <a16:creationId xmlns:a16="http://schemas.microsoft.com/office/drawing/2014/main" id="{8C16D7C9-57C1-ECD3-AB60-AD16E1E65BEE}"/>
              </a:ext>
            </a:extLst>
          </p:cNvPr>
          <p:cNvSpPr/>
          <p:nvPr/>
        </p:nvSpPr>
        <p:spPr>
          <a:xfrm>
            <a:off x="1021081" y="1691640"/>
            <a:ext cx="3840480" cy="34747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FC406930-448A-5822-4949-01C7F2C28B07}"/>
              </a:ext>
            </a:extLst>
          </p:cNvPr>
          <p:cNvSpPr/>
          <p:nvPr/>
        </p:nvSpPr>
        <p:spPr>
          <a:xfrm>
            <a:off x="975361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The Math is Strong</a:t>
            </a:r>
            <a:endParaRPr lang="en-US" sz="2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75ECB734-DDBB-D281-7A99-7C0F1BCFB7E2}"/>
              </a:ext>
            </a:extLst>
          </p:cNvPr>
          <p:cNvSpPr/>
          <p:nvPr/>
        </p:nvSpPr>
        <p:spPr>
          <a:xfrm>
            <a:off x="975361" y="21945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Modern encryption (AES, Ascon) is mathematically unbreakable.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Brute-forcing a 128-bit key takes longer than the age of the universe.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No known mathematical weakness.</a:t>
            </a:r>
            <a:endParaRPr lang="en-US"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7FFE8A6-CBB0-A52C-71C8-6142D31801A3}"/>
              </a:ext>
            </a:extLst>
          </p:cNvPr>
          <p:cNvSpPr/>
          <p:nvPr/>
        </p:nvSpPr>
        <p:spPr>
          <a:xfrm>
            <a:off x="7330440" y="1636644"/>
            <a:ext cx="4023360" cy="4459356"/>
          </a:xfrm>
          <a:prstGeom prst="rect">
            <a:avLst/>
          </a:prstGeom>
          <a:solidFill>
            <a:srgbClr val="FFF7F0"/>
          </a:solidFill>
          <a:ln w="12700">
            <a:solidFill>
              <a:srgbClr val="FFD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C9E3EC2-1D89-5CFA-ADF5-4F38D30E5381}"/>
              </a:ext>
            </a:extLst>
          </p:cNvPr>
          <p:cNvSpPr/>
          <p:nvPr/>
        </p:nvSpPr>
        <p:spPr>
          <a:xfrm>
            <a:off x="7421880" y="17280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C0392B"/>
                </a:solidFill>
                <a:ea typeface="Calibri" pitchFamily="34" charset="-122"/>
                <a:cs typeface="Calibri" pitchFamily="34" charset="-120"/>
              </a:rPr>
              <a:t>But Hardware Leaks!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3E55474-83D2-D84C-C5B5-8DEAD4CF6F5B}"/>
              </a:ext>
            </a:extLst>
          </p:cNvPr>
          <p:cNvSpPr/>
          <p:nvPr/>
        </p:nvSpPr>
        <p:spPr>
          <a:xfrm>
            <a:off x="7421880" y="2139564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Real chips leak power, EM radiation &amp; timing during operations.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Side-Channel Attacks (SCA) exploit these physical emissions.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No code access needed — just a measurement probe!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Attacker recovers the secret key from the physics, not the math.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16" y="368968"/>
            <a:ext cx="8949142" cy="823582"/>
          </a:xfrm>
        </p:spPr>
        <p:txBody>
          <a:bodyPr>
            <a:normAutofit/>
          </a:bodyPr>
          <a:lstStyle/>
          <a:p>
            <a:r>
              <a:rPr lang="en-US" sz="4000" b="1" dirty="0"/>
              <a:t>Phase 1: </a:t>
            </a:r>
            <a:r>
              <a:rPr lang="en-US" sz="4000" b="1" dirty="0" err="1"/>
              <a:t>Chipwhisperer</a:t>
            </a:r>
            <a:r>
              <a:rPr lang="en-US" sz="4000" b="1" dirty="0"/>
              <a:t> nano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28AD004-45BB-E67B-358F-E99E18E46980}"/>
              </a:ext>
            </a:extLst>
          </p:cNvPr>
          <p:cNvSpPr/>
          <p:nvPr/>
        </p:nvSpPr>
        <p:spPr>
          <a:xfrm>
            <a:off x="970548" y="1615440"/>
            <a:ext cx="4531894" cy="387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Target: STM32F0 Microcontroller running firmware AES.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CPU executes instructions sequentially — one operation at a time.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Sequential execution creates predictable, measurable power patterns.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ChipWhisperer Nano captures power traces via built-in ADC at up to 10 MS/s.</a:t>
            </a:r>
            <a:endParaRPr lang="en-US" sz="200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E248C695-A800-94CA-1C3C-74275099195B}"/>
              </a:ext>
            </a:extLst>
          </p:cNvPr>
          <p:cNvSpPr/>
          <p:nvPr/>
        </p:nvSpPr>
        <p:spPr>
          <a:xfrm>
            <a:off x="280736" y="5706979"/>
            <a:ext cx="11648756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A77B6031-347E-A3AF-F47C-AD55B145DE1A}"/>
              </a:ext>
            </a:extLst>
          </p:cNvPr>
          <p:cNvSpPr/>
          <p:nvPr/>
        </p:nvSpPr>
        <p:spPr>
          <a:xfrm>
            <a:off x="401052" y="5706979"/>
            <a:ext cx="11389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5789D"/>
                </a:solidFill>
                <a:ea typeface="Calibri" pitchFamily="34" charset="-122"/>
                <a:cs typeface="Calibri" pitchFamily="34" charset="-120"/>
              </a:rPr>
              <a:t>Phase 1: CW Nano + STM32 (Software)   →   Phase 2 (Current): CW305 + Artix-7 FPGA (Hardware)</a:t>
            </a:r>
            <a:endParaRPr lang="en-US" sz="20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99183BD-2F9E-CEFE-E27C-AF3E0FB63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36" r="16058" b="8862"/>
          <a:stretch>
            <a:fillRect/>
          </a:stretch>
        </p:blipFill>
        <p:spPr bwMode="auto">
          <a:xfrm>
            <a:off x="6689560" y="1544346"/>
            <a:ext cx="4941419" cy="376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6" y="314286"/>
            <a:ext cx="8177463" cy="827961"/>
          </a:xfrm>
        </p:spPr>
        <p:txBody>
          <a:bodyPr>
            <a:noAutofit/>
          </a:bodyPr>
          <a:lstStyle/>
          <a:p>
            <a:r>
              <a:rPr lang="en-US" sz="4000" b="1" dirty="0"/>
              <a:t>Simple power analysis (spa)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3F0468D-BDEA-DEC0-F8B6-DDF62EBB59CE}"/>
              </a:ext>
            </a:extLst>
          </p:cNvPr>
          <p:cNvSpPr/>
          <p:nvPr/>
        </p:nvSpPr>
        <p:spPr>
          <a:xfrm>
            <a:off x="511676" y="1691640"/>
            <a:ext cx="573505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Directly observed power trace differences based on instruction type.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Successfully bypassed firmware passwords by spotting branch timing variations.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Correct vs incorrect character → different code path → different power waveform.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Identified direct power differences based on Hamming Weights (0x00 vs 0xFF).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0x00 → HW = 0 → low switching → low power.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0xFF → HW = 8 → high switching → high power.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01B006-356D-099A-2E33-354769CE7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827" y="1381902"/>
            <a:ext cx="3159016" cy="23675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A638BD-7C0B-0BB3-8E3E-F89FB7625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827" y="3928667"/>
            <a:ext cx="3159017" cy="261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322706"/>
            <a:ext cx="9545053" cy="857765"/>
          </a:xfrm>
        </p:spPr>
        <p:txBody>
          <a:bodyPr/>
          <a:lstStyle/>
          <a:p>
            <a:r>
              <a:rPr lang="en-US" sz="4000" b="1" dirty="0"/>
              <a:t>Differential power analysis (dpa)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FAC88C6-EF05-8D8A-B177-7E504792CAA3}"/>
              </a:ext>
            </a:extLst>
          </p:cNvPr>
          <p:cNvSpPr/>
          <p:nvPr/>
        </p:nvSpPr>
        <p:spPr>
          <a:xfrm>
            <a:off x="594359" y="1724138"/>
            <a:ext cx="6239577" cy="49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1.  Capture N power traces while device runs AES encryption.</a:t>
            </a:r>
            <a:endParaRPr lang="en-US" sz="20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38A14947-F49C-48F7-B04E-54DC09D0BC33}"/>
              </a:ext>
            </a:extLst>
          </p:cNvPr>
          <p:cNvSpPr/>
          <p:nvPr/>
        </p:nvSpPr>
        <p:spPr>
          <a:xfrm>
            <a:off x="594359" y="2414016"/>
            <a:ext cx="6239577" cy="49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2.  For each key guess (0–255), predict the AES S-Box output bit.</a:t>
            </a:r>
            <a:endParaRPr lang="en-US" sz="20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C7268619-BA8E-6CA4-6D0B-7B4D410F8A8C}"/>
              </a:ext>
            </a:extLst>
          </p:cNvPr>
          <p:cNvSpPr/>
          <p:nvPr/>
        </p:nvSpPr>
        <p:spPr>
          <a:xfrm>
            <a:off x="594359" y="3127248"/>
            <a:ext cx="6239577" cy="49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3.  Split traces into two groups based on the predicted bit (0 or 1).</a:t>
            </a:r>
            <a:endParaRPr lang="en-US" sz="20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59D6836-8DD2-6D85-6E64-AF723873EA79}"/>
              </a:ext>
            </a:extLst>
          </p:cNvPr>
          <p:cNvSpPr/>
          <p:nvPr/>
        </p:nvSpPr>
        <p:spPr>
          <a:xfrm>
            <a:off x="594359" y="3840480"/>
            <a:ext cx="6239577" cy="49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4.  Compute: |avg(Group1) − avg(Group0)|</a:t>
            </a:r>
            <a:endParaRPr lang="en-US" sz="20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021A455-0AB1-F196-901C-FD4E40EE8064}"/>
              </a:ext>
            </a:extLst>
          </p:cNvPr>
          <p:cNvSpPr/>
          <p:nvPr/>
        </p:nvSpPr>
        <p:spPr>
          <a:xfrm>
            <a:off x="594359" y="4553712"/>
            <a:ext cx="6239577" cy="49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5.  Correct key guess → sharp peak at S-Box time point.</a:t>
            </a:r>
            <a:endParaRPr lang="en-US" sz="20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345CA70E-A384-8637-E268-59E18D627EEA}"/>
              </a:ext>
            </a:extLst>
          </p:cNvPr>
          <p:cNvSpPr/>
          <p:nvPr/>
        </p:nvSpPr>
        <p:spPr>
          <a:xfrm>
            <a:off x="594359" y="5266944"/>
            <a:ext cx="6239577" cy="490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6.  Repeat for all 16 key bytes → recover full 128-bit key.</a:t>
            </a:r>
            <a:endParaRPr lang="en-US" sz="200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6FDCA052-FFA6-90D3-5CD4-3570858D18D5}"/>
              </a:ext>
            </a:extLst>
          </p:cNvPr>
          <p:cNvSpPr/>
          <p:nvPr/>
        </p:nvSpPr>
        <p:spPr>
          <a:xfrm>
            <a:off x="7979343" y="1865376"/>
            <a:ext cx="3346382" cy="136217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D00F18E6-A042-F861-4ECF-C6A1EDCE326B}"/>
              </a:ext>
            </a:extLst>
          </p:cNvPr>
          <p:cNvSpPr/>
          <p:nvPr/>
        </p:nvSpPr>
        <p:spPr>
          <a:xfrm>
            <a:off x="7979342" y="1865376"/>
            <a:ext cx="3346383" cy="1362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Full AES Key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Recovered!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2b 7e 15 16 28 ae d2 a6...</a:t>
            </a:r>
            <a:endParaRPr lang="en-US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19A4402A-E1F9-4DF7-5334-C364C168768B}"/>
              </a:ext>
            </a:extLst>
          </p:cNvPr>
          <p:cNvSpPr/>
          <p:nvPr/>
        </p:nvSpPr>
        <p:spPr>
          <a:xfrm>
            <a:off x="7979343" y="3709483"/>
            <a:ext cx="3618298" cy="2595063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1DAF64E-A5ED-7FBF-4A08-AB8FAC6D470E}"/>
              </a:ext>
            </a:extLst>
          </p:cNvPr>
          <p:cNvSpPr/>
          <p:nvPr/>
        </p:nvSpPr>
        <p:spPr>
          <a:xfrm>
            <a:off x="8102867" y="385447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4A261"/>
                </a:solidFill>
                <a:ea typeface="Calibri" pitchFamily="34" charset="-122"/>
                <a:cs typeface="Calibri" pitchFamily="34" charset="-120"/>
              </a:rPr>
              <a:t>Limitation</a:t>
            </a:r>
            <a:endParaRPr lang="en-US" dirty="0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FA597556-B58F-1FAD-A046-F16C4870F79B}"/>
              </a:ext>
            </a:extLst>
          </p:cNvPr>
          <p:cNvSpPr/>
          <p:nvPr/>
        </p:nvSpPr>
        <p:spPr>
          <a:xfrm>
            <a:off x="8104873" y="4315325"/>
            <a:ext cx="33672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Needed ~2,500 traces due to noise.</a:t>
            </a:r>
            <a:endParaRPr lang="en-US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Ghost peaks from wrong key guesses.</a:t>
            </a:r>
            <a:endParaRPr lang="en-US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Required careful trace windowing.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7">
            <a:extLst>
              <a:ext uri="{FF2B5EF4-FFF2-40B4-BE49-F238E27FC236}">
                <a16:creationId xmlns:a16="http://schemas.microsoft.com/office/drawing/2014/main" id="{D5F4897F-8AA4-25F4-14EC-701ABAF5702D}"/>
              </a:ext>
            </a:extLst>
          </p:cNvPr>
          <p:cNvSpPr/>
          <p:nvPr/>
        </p:nvSpPr>
        <p:spPr>
          <a:xfrm>
            <a:off x="6464969" y="1096532"/>
            <a:ext cx="5163954" cy="2721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3A09BA6-B15A-EF3E-6E83-8493894E708B}"/>
              </a:ext>
            </a:extLst>
          </p:cNvPr>
          <p:cNvSpPr/>
          <p:nvPr/>
        </p:nvSpPr>
        <p:spPr>
          <a:xfrm>
            <a:off x="563077" y="1096532"/>
            <a:ext cx="4730817" cy="2721489"/>
          </a:xfrm>
          <a:prstGeom prst="rect">
            <a:avLst/>
          </a:prstGeom>
          <a:solidFill>
            <a:srgbClr val="FFF7F0"/>
          </a:solidFill>
          <a:ln w="12700">
            <a:solidFill>
              <a:srgbClr val="FFD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16" y="250231"/>
            <a:ext cx="7366189" cy="84630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Correlation power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142EC58-2EC7-E93F-6764-430FAA7E34AE}"/>
              </a:ext>
            </a:extLst>
          </p:cNvPr>
          <p:cNvSpPr/>
          <p:nvPr/>
        </p:nvSpPr>
        <p:spPr>
          <a:xfrm>
            <a:off x="2081290" y="1463040"/>
            <a:ext cx="15763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C0392B"/>
                </a:solidFill>
                <a:ea typeface="Calibri" pitchFamily="34" charset="-122"/>
                <a:cs typeface="Calibri" pitchFamily="34" charset="-120"/>
              </a:rPr>
              <a:t>DPA (Old)</a:t>
            </a:r>
            <a:endParaRPr lang="en-US" sz="2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8E277BC-34DE-A1EA-C4EA-D6EC9C6F95DE}"/>
              </a:ext>
            </a:extLst>
          </p:cNvPr>
          <p:cNvSpPr/>
          <p:nvPr/>
        </p:nvSpPr>
        <p:spPr>
          <a:xfrm>
            <a:off x="857452" y="1859600"/>
            <a:ext cx="4297680" cy="1446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Uses single bit from prediction. Noisy. Needs many traces. Ghost peaks common.</a:t>
            </a:r>
            <a:endParaRPr lang="en-US" sz="2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F9A567-7E67-03A4-7D2D-E17F9017AC69}"/>
              </a:ext>
            </a:extLst>
          </p:cNvPr>
          <p:cNvSpPr/>
          <p:nvPr/>
        </p:nvSpPr>
        <p:spPr>
          <a:xfrm>
            <a:off x="8111689" y="1463040"/>
            <a:ext cx="17542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A7340"/>
                </a:solidFill>
                <a:ea typeface="Calibri" pitchFamily="34" charset="-122"/>
                <a:cs typeface="Calibri" pitchFamily="34" charset="-120"/>
              </a:rPr>
              <a:t>CPA (New)</a:t>
            </a:r>
            <a:endParaRPr lang="en-US" sz="2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BB7417C-FBB5-1AAB-6D08-6D49EB5A1108}"/>
              </a:ext>
            </a:extLst>
          </p:cNvPr>
          <p:cNvSpPr/>
          <p:nvPr/>
        </p:nvSpPr>
        <p:spPr>
          <a:xfrm>
            <a:off x="6603731" y="1982804"/>
            <a:ext cx="4730817" cy="1446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Uses full 8-bit Hamming Weight. Pearson Correlation replaces difference-of-means. Stronger, cleaner peaks with fewer traces.</a:t>
            </a:r>
            <a:endParaRPr lang="en-US" sz="24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27BAB24-0948-297B-3D05-4B389DEC9042}"/>
              </a:ext>
            </a:extLst>
          </p:cNvPr>
          <p:cNvSpPr/>
          <p:nvPr/>
        </p:nvSpPr>
        <p:spPr>
          <a:xfrm>
            <a:off x="563077" y="4288802"/>
            <a:ext cx="4057049" cy="375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Pearson Correlation Formula:</a:t>
            </a:r>
            <a:endParaRPr lang="en-US" sz="24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A43F925C-477F-C23B-D4C8-64FB4988850F}"/>
              </a:ext>
            </a:extLst>
          </p:cNvPr>
          <p:cNvSpPr/>
          <p:nvPr/>
        </p:nvSpPr>
        <p:spPr>
          <a:xfrm>
            <a:off x="677777" y="6232249"/>
            <a:ext cx="10836443" cy="375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7080"/>
                </a:solidFill>
                <a:ea typeface="Calibri" pitchFamily="34" charset="-122"/>
                <a:cs typeface="Calibri" pitchFamily="34" charset="-120"/>
              </a:rPr>
              <a:t>H = Predicted Hamming Weight   |   P = Measured Power Sample   |   r → ±1 = strong correlation</a:t>
            </a:r>
            <a:endParaRPr lang="en-US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A868871-4CCF-F883-116E-89DA9DA07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651" y="4685924"/>
            <a:ext cx="5068696" cy="13677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62" y="366725"/>
            <a:ext cx="5301707" cy="823912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CPA vs Firmware </a:t>
            </a:r>
            <a:r>
              <a:rPr lang="en-US" sz="4000" b="1" dirty="0" err="1"/>
              <a:t>aes</a:t>
            </a:r>
            <a:endParaRPr lang="en-US" sz="4000" b="1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44FC715D-6E1F-87A2-DAE9-908E63F6C917}"/>
              </a:ext>
            </a:extLst>
          </p:cNvPr>
          <p:cNvSpPr/>
          <p:nvPr/>
        </p:nvSpPr>
        <p:spPr>
          <a:xfrm>
            <a:off x="1137387" y="2964439"/>
            <a:ext cx="3030353" cy="1293740"/>
          </a:xfrm>
          <a:prstGeom prst="rect">
            <a:avLst/>
          </a:prstGeom>
          <a:solidFill>
            <a:srgbClr val="FFF7F0"/>
          </a:solidFill>
          <a:ln w="12700">
            <a:solidFill>
              <a:srgbClr val="FFD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A90E26B5-FF3C-3A5C-6562-F97800EC4203}"/>
              </a:ext>
            </a:extLst>
          </p:cNvPr>
          <p:cNvSpPr/>
          <p:nvPr/>
        </p:nvSpPr>
        <p:spPr>
          <a:xfrm>
            <a:off x="4802205" y="2964439"/>
            <a:ext cx="3030353" cy="1293740"/>
          </a:xfrm>
          <a:prstGeom prst="rect">
            <a:avLst/>
          </a:prstGeom>
          <a:solidFill>
            <a:srgbClr val="FFF7F0"/>
          </a:solidFill>
          <a:ln w="12700">
            <a:solidFill>
              <a:srgbClr val="FFD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51867CAB-FAAC-3F22-D2CE-9D8E4A9C4F2D}"/>
              </a:ext>
            </a:extLst>
          </p:cNvPr>
          <p:cNvSpPr/>
          <p:nvPr/>
        </p:nvSpPr>
        <p:spPr>
          <a:xfrm>
            <a:off x="8467023" y="2964439"/>
            <a:ext cx="3030353" cy="1293740"/>
          </a:xfrm>
          <a:prstGeom prst="rect">
            <a:avLst/>
          </a:prstGeom>
          <a:solidFill>
            <a:srgbClr val="FFF7F0"/>
          </a:solidFill>
          <a:ln w="12700">
            <a:solidFill>
              <a:srgbClr val="FFD1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50EA20-43A4-488C-9822-D41856DD6967}"/>
              </a:ext>
            </a:extLst>
          </p:cNvPr>
          <p:cNvSpPr/>
          <p:nvPr/>
        </p:nvSpPr>
        <p:spPr>
          <a:xfrm>
            <a:off x="1463843" y="3032129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200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4EC4C71-5EE2-0E23-465C-AFAF81A44691}"/>
              </a:ext>
            </a:extLst>
          </p:cNvPr>
          <p:cNvSpPr/>
          <p:nvPr/>
        </p:nvSpPr>
        <p:spPr>
          <a:xfrm>
            <a:off x="1463843" y="3785619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ea typeface="Calibri" pitchFamily="34" charset="-122"/>
                <a:cs typeface="Calibri" pitchFamily="34" charset="-120"/>
              </a:rPr>
              <a:t>Traces needed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15E5E6E-676C-D5F3-239B-1FB9455B731B}"/>
              </a:ext>
            </a:extLst>
          </p:cNvPr>
          <p:cNvSpPr/>
          <p:nvPr/>
        </p:nvSpPr>
        <p:spPr>
          <a:xfrm>
            <a:off x="5128661" y="3032129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 pitchFamily="34" charset="-122"/>
                <a:cs typeface="Calibri" pitchFamily="34" charset="-120"/>
              </a:rPr>
              <a:t>16 / 16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2D6F8CF6-0844-6472-2C5C-7EC7D2E19A51}"/>
              </a:ext>
            </a:extLst>
          </p:cNvPr>
          <p:cNvSpPr/>
          <p:nvPr/>
        </p:nvSpPr>
        <p:spPr>
          <a:xfrm>
            <a:off x="5128661" y="3785619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Calibri" pitchFamily="34" charset="-122"/>
                <a:cs typeface="Calibri" pitchFamily="34" charset="-120"/>
              </a:rPr>
              <a:t>Key bytes recovered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90BE5A0-F179-3D2B-410A-EDECAD504232}"/>
              </a:ext>
            </a:extLst>
          </p:cNvPr>
          <p:cNvSpPr/>
          <p:nvPr/>
        </p:nvSpPr>
        <p:spPr>
          <a:xfrm>
            <a:off x="8831982" y="30503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>
                    <a:lumMod val="85000"/>
                    <a:lumOff val="15000"/>
                  </a:schemeClr>
                </a:solidFill>
                <a:ea typeface="Calibri" pitchFamily="34" charset="-122"/>
                <a:cs typeface="Calibri" pitchFamily="34" charset="-120"/>
              </a:rPr>
              <a:t>~40×</a:t>
            </a:r>
            <a:endParaRPr lang="en-US" sz="3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7DF6918-1AA5-70EA-64F3-E0459C87972F}"/>
              </a:ext>
            </a:extLst>
          </p:cNvPr>
          <p:cNvSpPr/>
          <p:nvPr/>
        </p:nvSpPr>
        <p:spPr>
          <a:xfrm>
            <a:off x="8831982" y="3771329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Calibri" pitchFamily="34" charset="-122"/>
                <a:cs typeface="Calibri" pitchFamily="34" charset="-120"/>
              </a:rPr>
              <a:t>Fewer traces vs DPA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A6F04FB-8025-081E-4235-E5D90CB1FDC5}"/>
              </a:ext>
            </a:extLst>
          </p:cNvPr>
          <p:cNvSpPr/>
          <p:nvPr/>
        </p:nvSpPr>
        <p:spPr>
          <a:xfrm>
            <a:off x="483320" y="4476920"/>
            <a:ext cx="85131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Pearson correlation filtered system noise far more effectively than DPA.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Highest correlation peaks clearly identified for all 16 key bytes.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Wrong key guesses produced near-zero correlation — no ghost peaks.</a:t>
            </a:r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023D3E-C02A-EC47-80AE-215BDA31A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58" y="1239746"/>
            <a:ext cx="10881684" cy="155506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8BC45D8-EF16-895B-0688-889824F0B130}"/>
              </a:ext>
            </a:extLst>
          </p:cNvPr>
          <p:cNvSpPr txBox="1">
            <a:spLocks/>
          </p:cNvSpPr>
          <p:nvPr/>
        </p:nvSpPr>
        <p:spPr>
          <a:xfrm>
            <a:off x="4167740" y="1204140"/>
            <a:ext cx="3775860" cy="32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CPA Attack Flowchart</a:t>
            </a: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13">
            <a:extLst>
              <a:ext uri="{FF2B5EF4-FFF2-40B4-BE49-F238E27FC236}">
                <a16:creationId xmlns:a16="http://schemas.microsoft.com/office/drawing/2014/main" id="{77AA9B58-1AD9-D4F0-E946-C9DB1A40675A}"/>
              </a:ext>
            </a:extLst>
          </p:cNvPr>
          <p:cNvSpPr/>
          <p:nvPr/>
        </p:nvSpPr>
        <p:spPr>
          <a:xfrm>
            <a:off x="6400803" y="1415462"/>
            <a:ext cx="5209675" cy="4054896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7EE0423A-984F-1235-4BBC-A41D234E0C5C}"/>
              </a:ext>
            </a:extLst>
          </p:cNvPr>
          <p:cNvSpPr/>
          <p:nvPr/>
        </p:nvSpPr>
        <p:spPr>
          <a:xfrm>
            <a:off x="581524" y="1415462"/>
            <a:ext cx="5209675" cy="4054896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80" y="235879"/>
            <a:ext cx="10629267" cy="880242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Moving to hardware (cw305 artix-7 fpga)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9CF461C-4D27-3EBF-4B9E-6931B33A1708}"/>
              </a:ext>
            </a:extLst>
          </p:cNvPr>
          <p:cNvSpPr/>
          <p:nvPr/>
        </p:nvSpPr>
        <p:spPr>
          <a:xfrm>
            <a:off x="1812873" y="1680313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Software CPU (CW Nano)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5C3C7066-0352-CEB6-9E3E-C18CB5C81980}"/>
              </a:ext>
            </a:extLst>
          </p:cNvPr>
          <p:cNvSpPr/>
          <p:nvPr/>
        </p:nvSpPr>
        <p:spPr>
          <a:xfrm>
            <a:off x="7604760" y="1680313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FPGA Hardware (CW305)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D1C72A01-C991-CC4F-31C8-7E75AD9B250C}"/>
              </a:ext>
            </a:extLst>
          </p:cNvPr>
          <p:cNvSpPr/>
          <p:nvPr/>
        </p:nvSpPr>
        <p:spPr>
          <a:xfrm>
            <a:off x="838200" y="2286000"/>
            <a:ext cx="4618523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Sequential execution — one gate at a time.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Background OS noise contaminates traces.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CPU pipeline blurs the signal-of-interest.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Easier to attack but less relevant for IoT hardware.</a:t>
            </a:r>
            <a:endParaRPr lang="en-US" sz="2000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AEE223CF-8D0F-C489-5C44-D94783530DC4}"/>
              </a:ext>
            </a:extLst>
          </p:cNvPr>
          <p:cNvSpPr/>
          <p:nvPr/>
        </p:nvSpPr>
        <p:spPr>
          <a:xfrm>
            <a:off x="6561221" y="2286000"/>
            <a:ext cx="4792579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Thousands of gates switch simultaneously.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No OS noise — bare-metal custom hardware.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Deterministic, clean power signature.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Realistic target for modern IoT cryptographic chips.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69C6-5C98-BA11-A701-8AD9FFEC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D9A2C-A44C-A160-CAC0-E1541ABA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366" y="114135"/>
            <a:ext cx="10629267" cy="880242"/>
          </a:xfrm>
        </p:spPr>
        <p:txBody>
          <a:bodyPr>
            <a:normAutofit/>
          </a:bodyPr>
          <a:lstStyle/>
          <a:p>
            <a:r>
              <a:rPr lang="en-US" sz="4000" b="1" dirty="0"/>
              <a:t>cw305 artix-7 fpga target board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06ACE-7FAF-048C-A89F-E3CBE7D2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5B123C-B7C2-74AA-6B24-9463101E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978" y="1100605"/>
            <a:ext cx="9082041" cy="514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9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58" y="215902"/>
            <a:ext cx="9334083" cy="889002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Target: ascon-128 (nist winner 2023)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81C648F-3A8B-9F09-FDD4-1F3FA782A142}"/>
              </a:ext>
            </a:extLst>
          </p:cNvPr>
          <p:cNvSpPr/>
          <p:nvPr/>
        </p:nvSpPr>
        <p:spPr>
          <a:xfrm>
            <a:off x="1981199" y="1260664"/>
            <a:ext cx="8526379" cy="88900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F1FCDA-B2FE-E7EF-5B65-478DDA373523}"/>
              </a:ext>
            </a:extLst>
          </p:cNvPr>
          <p:cNvSpPr/>
          <p:nvPr/>
        </p:nvSpPr>
        <p:spPr>
          <a:xfrm>
            <a:off x="2072640" y="134810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NIST Lightweight Cryptography Competition Winner  Selected as the global standard for IoT security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D1FD023-01F4-8AF1-24DE-5B0ACA75E03D}"/>
              </a:ext>
            </a:extLst>
          </p:cNvPr>
          <p:cNvSpPr/>
          <p:nvPr/>
        </p:nvSpPr>
        <p:spPr>
          <a:xfrm>
            <a:off x="1981200" y="2582643"/>
            <a:ext cx="3931920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3057A2-9172-A997-6579-DCFA4CCD4179}"/>
              </a:ext>
            </a:extLst>
          </p:cNvPr>
          <p:cNvSpPr/>
          <p:nvPr/>
        </p:nvSpPr>
        <p:spPr>
          <a:xfrm>
            <a:off x="2072640" y="2582643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5789D"/>
                </a:solidFill>
                <a:ea typeface="Calibri" pitchFamily="34" charset="-122"/>
                <a:cs typeface="Calibri" pitchFamily="34" charset="-120"/>
              </a:rPr>
              <a:t>Key Size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CDF10B2-B232-2490-EBDB-54D459A94420}"/>
              </a:ext>
            </a:extLst>
          </p:cNvPr>
          <p:cNvSpPr/>
          <p:nvPr/>
        </p:nvSpPr>
        <p:spPr>
          <a:xfrm>
            <a:off x="3810000" y="2582643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D42"/>
                </a:solidFill>
                <a:ea typeface="Consolas" pitchFamily="34" charset="-122"/>
                <a:cs typeface="Consolas" pitchFamily="34" charset="-120"/>
              </a:rPr>
              <a:t>128 bits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7989BF-58B9-6DF2-B524-2D9CBBFFB7C4}"/>
              </a:ext>
            </a:extLst>
          </p:cNvPr>
          <p:cNvSpPr/>
          <p:nvPr/>
        </p:nvSpPr>
        <p:spPr>
          <a:xfrm>
            <a:off x="6575658" y="2582643"/>
            <a:ext cx="3931920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177153-9AC6-7EB8-719D-774FFBD50310}"/>
              </a:ext>
            </a:extLst>
          </p:cNvPr>
          <p:cNvSpPr/>
          <p:nvPr/>
        </p:nvSpPr>
        <p:spPr>
          <a:xfrm>
            <a:off x="6667098" y="2582643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5789D"/>
                </a:solidFill>
                <a:ea typeface="Calibri" pitchFamily="34" charset="-122"/>
                <a:cs typeface="Calibri" pitchFamily="34" charset="-120"/>
              </a:rPr>
              <a:t>Nonce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72F66B-4904-A26E-7047-B981EA088222}"/>
              </a:ext>
            </a:extLst>
          </p:cNvPr>
          <p:cNvSpPr/>
          <p:nvPr/>
        </p:nvSpPr>
        <p:spPr>
          <a:xfrm>
            <a:off x="8404458" y="2582643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D42"/>
                </a:solidFill>
                <a:ea typeface="Consolas" pitchFamily="34" charset="-122"/>
                <a:cs typeface="Consolas" pitchFamily="34" charset="-120"/>
              </a:rPr>
              <a:t>128 bits</a:t>
            </a:r>
            <a:endParaRPr lang="en-US" sz="20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D4EA400-132E-0140-15A3-F147A6ED94EB}"/>
              </a:ext>
            </a:extLst>
          </p:cNvPr>
          <p:cNvSpPr/>
          <p:nvPr/>
        </p:nvSpPr>
        <p:spPr>
          <a:xfrm>
            <a:off x="1981200" y="3817784"/>
            <a:ext cx="3931920" cy="658368"/>
          </a:xfrm>
          <a:prstGeom prst="rect">
            <a:avLst/>
          </a:prstGeom>
          <a:solidFill>
            <a:srgbClr val="E8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FE8D48A-FA7D-3B8C-C483-5843F3EA9266}"/>
              </a:ext>
            </a:extLst>
          </p:cNvPr>
          <p:cNvSpPr/>
          <p:nvPr/>
        </p:nvSpPr>
        <p:spPr>
          <a:xfrm>
            <a:off x="2072640" y="381778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5789D"/>
                </a:solidFill>
                <a:ea typeface="Calibri" pitchFamily="34" charset="-122"/>
                <a:cs typeface="Calibri" pitchFamily="34" charset="-120"/>
              </a:rPr>
              <a:t>Tag</a:t>
            </a:r>
            <a:endParaRPr lang="en-US" sz="20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591B110-8B01-3614-076A-29FC61A5C440}"/>
              </a:ext>
            </a:extLst>
          </p:cNvPr>
          <p:cNvSpPr/>
          <p:nvPr/>
        </p:nvSpPr>
        <p:spPr>
          <a:xfrm>
            <a:off x="3810000" y="38177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D42"/>
                </a:solidFill>
                <a:ea typeface="Consolas" pitchFamily="34" charset="-122"/>
                <a:cs typeface="Consolas" pitchFamily="34" charset="-120"/>
              </a:rPr>
              <a:t>128 bits</a:t>
            </a:r>
            <a:endParaRPr lang="en-US" sz="20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1F94C03B-23DD-4DB5-CAE4-FBD1D70D6988}"/>
              </a:ext>
            </a:extLst>
          </p:cNvPr>
          <p:cNvSpPr/>
          <p:nvPr/>
        </p:nvSpPr>
        <p:spPr>
          <a:xfrm>
            <a:off x="6575657" y="3817784"/>
            <a:ext cx="3931920" cy="658368"/>
          </a:xfrm>
          <a:prstGeom prst="rect">
            <a:avLst/>
          </a:prstGeom>
          <a:solidFill>
            <a:srgbClr val="E8F5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ABD1108E-5524-0A47-E697-32C99D51EC09}"/>
              </a:ext>
            </a:extLst>
          </p:cNvPr>
          <p:cNvSpPr/>
          <p:nvPr/>
        </p:nvSpPr>
        <p:spPr>
          <a:xfrm>
            <a:off x="6667097" y="381778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5789D"/>
                </a:solidFill>
                <a:ea typeface="Calibri" pitchFamily="34" charset="-122"/>
                <a:cs typeface="Calibri" pitchFamily="34" charset="-120"/>
              </a:rPr>
              <a:t>Rate</a:t>
            </a:r>
            <a:endParaRPr lang="en-US" sz="20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E8CC2C1-BF1A-6ADC-ACD8-0405CB9EFABC}"/>
              </a:ext>
            </a:extLst>
          </p:cNvPr>
          <p:cNvSpPr/>
          <p:nvPr/>
        </p:nvSpPr>
        <p:spPr>
          <a:xfrm>
            <a:off x="8404457" y="381778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D42"/>
                </a:solidFill>
                <a:ea typeface="Consolas" pitchFamily="34" charset="-122"/>
                <a:cs typeface="Consolas" pitchFamily="34" charset="-120"/>
              </a:rPr>
              <a:t>64 bits (8 bytes/block)</a:t>
            </a:r>
            <a:endParaRPr lang="en-US" sz="20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D6EDADB3-A02A-4267-5D41-0C3C038FFDF9}"/>
              </a:ext>
            </a:extLst>
          </p:cNvPr>
          <p:cNvSpPr/>
          <p:nvPr/>
        </p:nvSpPr>
        <p:spPr>
          <a:xfrm>
            <a:off x="1935480" y="5052925"/>
            <a:ext cx="3931920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CAC1987C-5217-F6B3-49DD-37888EA41F4F}"/>
              </a:ext>
            </a:extLst>
          </p:cNvPr>
          <p:cNvSpPr/>
          <p:nvPr/>
        </p:nvSpPr>
        <p:spPr>
          <a:xfrm>
            <a:off x="2026920" y="5052925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5789D"/>
                </a:solidFill>
                <a:ea typeface="Calibri" pitchFamily="34" charset="-122"/>
                <a:cs typeface="Calibri" pitchFamily="34" charset="-120"/>
              </a:rPr>
              <a:t>State</a:t>
            </a:r>
            <a:endParaRPr lang="en-US" sz="20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3EF204E2-973A-E716-7B13-F18CB4668F78}"/>
              </a:ext>
            </a:extLst>
          </p:cNvPr>
          <p:cNvSpPr/>
          <p:nvPr/>
        </p:nvSpPr>
        <p:spPr>
          <a:xfrm>
            <a:off x="3764280" y="5052925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D42"/>
                </a:solidFill>
                <a:ea typeface="Consolas" pitchFamily="34" charset="-122"/>
                <a:cs typeface="Consolas" pitchFamily="34" charset="-120"/>
              </a:rPr>
              <a:t>320 bits (5 × 64-bit words)</a:t>
            </a:r>
            <a:endParaRPr lang="en-US" sz="20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0399A8C-1953-1512-CF60-332796C9539E}"/>
              </a:ext>
            </a:extLst>
          </p:cNvPr>
          <p:cNvSpPr/>
          <p:nvPr/>
        </p:nvSpPr>
        <p:spPr>
          <a:xfrm>
            <a:off x="6575657" y="5052925"/>
            <a:ext cx="3931920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88D51F52-C134-4997-C7DB-5B9CEEE55D9F}"/>
              </a:ext>
            </a:extLst>
          </p:cNvPr>
          <p:cNvSpPr/>
          <p:nvPr/>
        </p:nvSpPr>
        <p:spPr>
          <a:xfrm>
            <a:off x="6667097" y="5052925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5789D"/>
                </a:solidFill>
                <a:ea typeface="Calibri" pitchFamily="34" charset="-122"/>
                <a:cs typeface="Calibri" pitchFamily="34" charset="-120"/>
              </a:rPr>
              <a:t>Permutations</a:t>
            </a:r>
            <a:endParaRPr lang="en-US" sz="20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3197E7C6-E76E-BC09-1CE8-5CF2A3048D4C}"/>
              </a:ext>
            </a:extLst>
          </p:cNvPr>
          <p:cNvSpPr/>
          <p:nvPr/>
        </p:nvSpPr>
        <p:spPr>
          <a:xfrm>
            <a:off x="8404457" y="5052925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D42"/>
                </a:solidFill>
                <a:ea typeface="Consolas" pitchFamily="34" charset="-122"/>
                <a:cs typeface="Consolas" pitchFamily="34" charset="-120"/>
              </a:rPr>
              <a:t>P12 (init/final), P6 (data)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C147A-4672-D4DA-0319-CAC2182D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126DBA-8BB0-8ADC-59DD-F6DC7817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39" y="215902"/>
            <a:ext cx="10166477" cy="889002"/>
          </a:xfrm>
        </p:spPr>
        <p:txBody>
          <a:bodyPr>
            <a:noAutofit/>
          </a:bodyPr>
          <a:lstStyle/>
          <a:p>
            <a:r>
              <a:rPr lang="en-US" sz="4000" b="1" dirty="0"/>
              <a:t>Ascon sponge construction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5026F-9455-FA5A-B9CF-3B7426AE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DB2B883-7155-392C-CC66-AAAF7A5B922D}"/>
              </a:ext>
            </a:extLst>
          </p:cNvPr>
          <p:cNvSpPr/>
          <p:nvPr/>
        </p:nvSpPr>
        <p:spPr>
          <a:xfrm>
            <a:off x="457200" y="1554480"/>
            <a:ext cx="5638800" cy="44933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Permutation-based sponge construction (not AES rounds).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320-bit internal state split into: rate (64-bit) + capacity (256-bit).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Initialization: Load IV ∥ Key ∥ Nonce → apply P12 → XOR key.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Associated Data: Absorb blocks via XOR + P6 permutation.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Encryption: XOR plaintext into state → output ciphertext → P6.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Finalization: XOR key → P12 → XOR key → output 128-bit tag.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EFDDA4-5E48-9F13-BF51-EC2AF66C9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754" y="1289739"/>
            <a:ext cx="4582046" cy="488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88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7C24-73A9-8DD8-93D5-816E0047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62593E-52B1-F782-1535-440D03F4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3" y="459580"/>
            <a:ext cx="10166477" cy="889002"/>
          </a:xfrm>
        </p:spPr>
        <p:txBody>
          <a:bodyPr>
            <a:noAutofit/>
          </a:bodyPr>
          <a:lstStyle/>
          <a:p>
            <a:r>
              <a:rPr lang="en-US" sz="4000" b="1" dirty="0"/>
              <a:t>Automated hardware workflow (vitis hls)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1A946F8-0B0D-6D6A-987A-883BDAFA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AFAC27-3CE1-63B6-0FF7-AEEBA27F6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388" y="28654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3C1F01AE-907F-057D-6CDA-AC2C0EA30F53}"/>
              </a:ext>
            </a:extLst>
          </p:cNvPr>
          <p:cNvSpPr/>
          <p:nvPr/>
        </p:nvSpPr>
        <p:spPr>
          <a:xfrm>
            <a:off x="409074" y="1585278"/>
            <a:ext cx="101664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Writing raw Verilog/RTL by hand is slow, error-prone, and complex.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Vitis HLS (High-Level Synthesis) translates C code directly into hardware.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Allows fast design iteration without hardware expertise.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Output: Verilog IP core ready for Vivado block design.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D0A5D-8254-FF89-8BD6-A3142E26D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7" y="3608714"/>
            <a:ext cx="11079725" cy="246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18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A2D6-47F3-B77B-0161-2E0FA6A7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6F5F2B-D1E5-A6A1-670A-5AC4F11D5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3" y="459580"/>
            <a:ext cx="10166477" cy="889002"/>
          </a:xfrm>
        </p:spPr>
        <p:txBody>
          <a:bodyPr>
            <a:noAutofit/>
          </a:bodyPr>
          <a:lstStyle/>
          <a:p>
            <a:r>
              <a:rPr lang="en-US" sz="3600" b="1" dirty="0"/>
              <a:t>IP Core Interface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DCCA51C-A3C5-8B26-FC70-EF50E8CD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DC225AF-7244-53FC-CABD-A38E1AFB7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388" y="28654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AB96A4-31FB-2B6B-6807-95ECA70CF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56" y="1768978"/>
            <a:ext cx="9226288" cy="458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04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>
            <a:extLst>
              <a:ext uri="{FF2B5EF4-FFF2-40B4-BE49-F238E27FC236}">
                <a16:creationId xmlns:a16="http://schemas.microsoft.com/office/drawing/2014/main" id="{E5EF763D-85FC-39D5-8AE0-9730D955E1B8}"/>
              </a:ext>
            </a:extLst>
          </p:cNvPr>
          <p:cNvSpPr/>
          <p:nvPr/>
        </p:nvSpPr>
        <p:spPr>
          <a:xfrm>
            <a:off x="381000" y="3521710"/>
            <a:ext cx="8229600" cy="1645920"/>
          </a:xfrm>
          <a:prstGeom prst="rect">
            <a:avLst/>
          </a:prstGeom>
          <a:solidFill>
            <a:srgbClr val="0F1F2E"/>
          </a:solidFill>
          <a:ln w="12700">
            <a:solidFill>
              <a:srgbClr val="457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025" y="311993"/>
            <a:ext cx="9231659" cy="846301"/>
          </a:xfrm>
        </p:spPr>
        <p:txBody>
          <a:bodyPr>
            <a:noAutofit/>
          </a:bodyPr>
          <a:lstStyle/>
          <a:p>
            <a:r>
              <a:rPr lang="en-US" sz="4000" b="1" dirty="0"/>
              <a:t>Software to hardware bridging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EC4853C-96CC-A9DB-1E94-AF1018484BC3}"/>
              </a:ext>
            </a:extLst>
          </p:cNvPr>
          <p:cNvSpPr/>
          <p:nvPr/>
        </p:nvSpPr>
        <p:spPr>
          <a:xfrm>
            <a:off x="554025" y="1158294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Extracted clean reference C implementation from official NIST Ascon submission.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Created ascon_core.c — a unified top-function without OS-dependent overhead.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Removed stdio.h, malloc, and all dynamic memory — hardware has no OS.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Added HLS interface pragmas to define memory ports for the Verilog testbench.</a:t>
            </a:r>
            <a:endParaRPr lang="en-US" sz="20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13EDEDA7-FB4D-7D93-6B1D-D1CDA0E244B8}"/>
              </a:ext>
            </a:extLst>
          </p:cNvPr>
          <p:cNvSpPr/>
          <p:nvPr/>
        </p:nvSpPr>
        <p:spPr>
          <a:xfrm>
            <a:off x="554025" y="3688027"/>
            <a:ext cx="9504375" cy="18144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6A9955"/>
                </a:solidFill>
                <a:ea typeface="Consolas" pitchFamily="34" charset="-122"/>
                <a:cs typeface="Consolas" pitchFamily="34" charset="-120"/>
              </a:rPr>
              <a:t>// HLS Interface Pragmas — critical for Verilog port mapping
</a:t>
            </a:r>
            <a:r>
              <a:rPr lang="en-US" sz="2000" dirty="0">
                <a:solidFill>
                  <a:srgbClr val="00B4D8"/>
                </a:solidFill>
                <a:ea typeface="Consolas" pitchFamily="34" charset="-122"/>
                <a:cs typeface="Consolas" pitchFamily="34" charset="-120"/>
              </a:rPr>
              <a:t>#pragma HLS INTERFACE </a:t>
            </a:r>
            <a:r>
              <a:rPr lang="en-US" sz="2000" dirty="0">
                <a:solidFill>
                  <a:srgbClr val="F4A261"/>
                </a:solidFill>
                <a:ea typeface="Consolas" pitchFamily="34" charset="-122"/>
                <a:cs typeface="Consolas" pitchFamily="34" charset="-120"/>
              </a:rPr>
              <a:t>ap_memory </a:t>
            </a:r>
            <a:r>
              <a:rPr lang="en-US" sz="20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port=d_in depth=100
</a:t>
            </a:r>
            <a:r>
              <a:rPr lang="en-US" sz="2000" dirty="0">
                <a:solidFill>
                  <a:srgbClr val="00B4D8"/>
                </a:solidFill>
                <a:ea typeface="Consolas" pitchFamily="34" charset="-122"/>
                <a:cs typeface="Consolas" pitchFamily="34" charset="-120"/>
              </a:rPr>
              <a:t>#pragma HLS INTERFACE </a:t>
            </a:r>
            <a:r>
              <a:rPr lang="en-US" sz="2000" dirty="0">
                <a:solidFill>
                  <a:srgbClr val="F4A261"/>
                </a:solidFill>
                <a:ea typeface="Consolas" pitchFamily="34" charset="-122"/>
                <a:cs typeface="Consolas" pitchFamily="34" charset="-120"/>
              </a:rPr>
              <a:t>ap_memory </a:t>
            </a:r>
            <a:r>
              <a:rPr lang="en-US" sz="20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port=k depth=16
int </a:t>
            </a:r>
            <a:r>
              <a:rPr lang="en-US" sz="2000" dirty="0" err="1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ascon_core</a:t>
            </a:r>
            <a:r>
              <a:rPr lang="en-US" sz="2000" dirty="0">
                <a:solidFill>
                  <a:srgbClr val="FFFFFF"/>
                </a:solidFill>
                <a:ea typeface="Consolas" pitchFamily="34" charset="-122"/>
                <a:cs typeface="Consolas" pitchFamily="34" charset="-120"/>
              </a:rPr>
              <a:t>(..., </a:t>
            </a:r>
            <a:r>
              <a:rPr lang="en-US" sz="2000" dirty="0">
                <a:solidFill>
                  <a:srgbClr val="F4A261"/>
                </a:solidFill>
                <a:ea typeface="Consolas" pitchFamily="34" charset="-122"/>
                <a:cs typeface="Consolas" pitchFamily="34" charset="-120"/>
              </a:rPr>
              <a:t>int mode</a:t>
            </a:r>
            <a:r>
              <a:rPr lang="en-US" sz="2000" dirty="0">
                <a:solidFill>
                  <a:srgbClr val="6A9955"/>
                </a:solidFill>
                <a:ea typeface="Consolas" pitchFamily="34" charset="-122"/>
                <a:cs typeface="Consolas" pitchFamily="34" charset="-120"/>
              </a:rPr>
              <a:t>); // mode: 0=Encrypt, 1=Decrypt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2">
            <a:extLst>
              <a:ext uri="{FF2B5EF4-FFF2-40B4-BE49-F238E27FC236}">
                <a16:creationId xmlns:a16="http://schemas.microsoft.com/office/drawing/2014/main" id="{C8ABF241-2098-A7D8-1D57-16AD31F3DC5F}"/>
              </a:ext>
            </a:extLst>
          </p:cNvPr>
          <p:cNvSpPr/>
          <p:nvPr/>
        </p:nvSpPr>
        <p:spPr>
          <a:xfrm>
            <a:off x="457199" y="201168"/>
            <a:ext cx="9184105" cy="8749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363D"/>
                </a:solidFill>
                <a:latin typeface="+mj-lt"/>
                <a:ea typeface="Calibri" pitchFamily="34" charset="-122"/>
                <a:cs typeface="Calibri" pitchFamily="34" charset="-120"/>
              </a:rPr>
              <a:t>CORE HARDWARE MODIFICATIONS FOR SCA</a:t>
            </a:r>
            <a:endParaRPr lang="en-US" sz="3600" dirty="0">
              <a:latin typeface="+mj-lt"/>
            </a:endParaRPr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CF22AA8F-FD55-3957-D5DA-B64BD1CF094B}"/>
              </a:ext>
            </a:extLst>
          </p:cNvPr>
          <p:cNvSpPr/>
          <p:nvPr/>
        </p:nvSpPr>
        <p:spPr>
          <a:xfrm>
            <a:off x="457200" y="1401552"/>
            <a:ext cx="3589423" cy="4054896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C022E19A-65F8-44B0-5D6E-19C5F642242C}"/>
              </a:ext>
            </a:extLst>
          </p:cNvPr>
          <p:cNvSpPr/>
          <p:nvPr/>
        </p:nvSpPr>
        <p:spPr>
          <a:xfrm>
            <a:off x="4317116" y="1401552"/>
            <a:ext cx="3605467" cy="4054896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CDC2C5A3-A699-5723-D9E5-49EBDDB030E7}"/>
              </a:ext>
            </a:extLst>
          </p:cNvPr>
          <p:cNvSpPr/>
          <p:nvPr/>
        </p:nvSpPr>
        <p:spPr>
          <a:xfrm>
            <a:off x="8193077" y="1401552"/>
            <a:ext cx="3605468" cy="4054896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22ACCBC-8001-3E1A-0284-E766A17975A4}"/>
              </a:ext>
            </a:extLst>
          </p:cNvPr>
          <p:cNvSpPr/>
          <p:nvPr/>
        </p:nvSpPr>
        <p:spPr>
          <a:xfrm>
            <a:off x="578839" y="1445989"/>
            <a:ext cx="33461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 Merged Encrypt/Decrypt Logic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5FE2B42-1626-12A8-9537-8D88A7243600}"/>
              </a:ext>
            </a:extLst>
          </p:cNvPr>
          <p:cNvSpPr/>
          <p:nvPr/>
        </p:nvSpPr>
        <p:spPr>
          <a:xfrm>
            <a:off x="5370892" y="1465169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MUX Bridging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87EF0F0-EA59-533F-8EC6-06E4E1E87718}"/>
              </a:ext>
            </a:extLst>
          </p:cNvPr>
          <p:cNvSpPr/>
          <p:nvPr/>
        </p:nvSpPr>
        <p:spPr>
          <a:xfrm>
            <a:off x="8699322" y="1465169"/>
            <a:ext cx="263680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Trigger Synchronization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BAA7758-1D01-B64B-A578-0D6830D68FA2}"/>
              </a:ext>
            </a:extLst>
          </p:cNvPr>
          <p:cNvSpPr/>
          <p:nvPr/>
        </p:nvSpPr>
        <p:spPr>
          <a:xfrm>
            <a:off x="821355" y="2148840"/>
            <a:ext cx="2857897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Combined both modes into a single ascon_core() function. One hardware core handles both via a mode flag. Reduces area, ensures identical timing for SCA.</a:t>
            </a:r>
            <a:endParaRPr lang="en-US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3219DB85-AFE2-DBF1-C584-221A154E6899}"/>
              </a:ext>
            </a:extLst>
          </p:cNvPr>
          <p:cNvSpPr/>
          <p:nvPr/>
        </p:nvSpPr>
        <p:spPr>
          <a:xfrm>
            <a:off x="4700336" y="2159950"/>
            <a:ext cx="2887579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Input and Output MUX blocks route data through the same Shared Permutation Core. Forced identical leakage profiles for encrypt and decrypt paths.</a:t>
            </a:r>
            <a:endParaRPr lang="en-US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16BF2DE5-3AE5-1E3A-E445-FE6D7A4CC89A}"/>
              </a:ext>
            </a:extLst>
          </p:cNvPr>
          <p:cNvSpPr/>
          <p:nvPr/>
        </p:nvSpPr>
        <p:spPr>
          <a:xfrm>
            <a:off x="8615788" y="2159950"/>
            <a:ext cx="276004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Added a physical hardware wire (ap_start / ap_done signal). Directly drives oscilloscope trigger for perfectly aligned power traces.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97536-70D1-46C0-A2A2-51A6BB21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B7139F1-FA23-6250-8EF1-A9971BD39327}"/>
              </a:ext>
            </a:extLst>
          </p:cNvPr>
          <p:cNvSpPr/>
          <p:nvPr/>
        </p:nvSpPr>
        <p:spPr>
          <a:xfrm>
            <a:off x="820154" y="3487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363D"/>
                </a:solidFill>
                <a:latin typeface="+mj-lt"/>
                <a:ea typeface="Calibri" pitchFamily="34" charset="-122"/>
                <a:cs typeface="Calibri" pitchFamily="34" charset="-120"/>
              </a:rPr>
              <a:t>DESIGN SPACE EXPLORATION (DSE)</a:t>
            </a:r>
            <a:endParaRPr lang="en-US" sz="3600" dirty="0">
              <a:latin typeface="+mj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5B4C89-00F4-041A-6DD4-CF29BB3D97DF}"/>
              </a:ext>
            </a:extLst>
          </p:cNvPr>
          <p:cNvSpPr/>
          <p:nvPr/>
        </p:nvSpPr>
        <p:spPr>
          <a:xfrm>
            <a:off x="500114" y="139566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5789D"/>
                </a:solidFill>
                <a:ea typeface="Calibri" pitchFamily="34" charset="-122"/>
                <a:cs typeface="Calibri" pitchFamily="34" charset="-120"/>
              </a:rPr>
              <a:t>Goal: Find the architecture that maximizes power side-channel leakage.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6CA254-D6AB-FCC9-7E61-25B9D70D7F44}"/>
              </a:ext>
            </a:extLst>
          </p:cNvPr>
          <p:cNvSpPr/>
          <p:nvPr/>
        </p:nvSpPr>
        <p:spPr>
          <a:xfrm>
            <a:off x="387818" y="1807143"/>
            <a:ext cx="11304068" cy="20317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Used Vitis HLS #pragma directives to generate 4 distinct hardware architectures from the same C source.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Each architecture trades off latency, area (LUTs/FFs), and clock frequency.</a:t>
            </a:r>
            <a:endParaRPr lang="en-US" sz="20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The key SCA metric: which design switches the most transistors simultaneously → loudest power spikes.</a:t>
            </a:r>
            <a:endParaRPr lang="en-US" sz="2000" dirty="0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CD501356-03F5-6B5F-6DD2-52BD80277695}"/>
              </a:ext>
            </a:extLst>
          </p:cNvPr>
          <p:cNvSpPr/>
          <p:nvPr/>
        </p:nvSpPr>
        <p:spPr>
          <a:xfrm>
            <a:off x="387818" y="4115268"/>
            <a:ext cx="2743200" cy="224108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7FE0BA2-50B3-06EA-2FF4-36005C07FFC3}"/>
              </a:ext>
            </a:extLst>
          </p:cNvPr>
          <p:cNvSpPr/>
          <p:nvPr/>
        </p:nvSpPr>
        <p:spPr>
          <a:xfrm>
            <a:off x="3293243" y="4115268"/>
            <a:ext cx="2743200" cy="2241082"/>
          </a:xfrm>
          <a:prstGeom prst="rect">
            <a:avLst/>
          </a:prstGeom>
          <a:solidFill>
            <a:srgbClr val="FFF3E0"/>
          </a:solidFill>
          <a:ln w="2857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ED97375-4A92-2353-6295-206D44AA58DD}"/>
              </a:ext>
            </a:extLst>
          </p:cNvPr>
          <p:cNvSpPr/>
          <p:nvPr/>
        </p:nvSpPr>
        <p:spPr>
          <a:xfrm>
            <a:off x="6156158" y="4115268"/>
            <a:ext cx="2743200" cy="224108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1E5926D-E093-11F2-258E-45E2F9A0EF9B}"/>
              </a:ext>
            </a:extLst>
          </p:cNvPr>
          <p:cNvSpPr/>
          <p:nvPr/>
        </p:nvSpPr>
        <p:spPr>
          <a:xfrm>
            <a:off x="9058170" y="4115268"/>
            <a:ext cx="2743200" cy="224108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F14BF53E-93C0-26C9-4C25-95D50983F7DC}"/>
              </a:ext>
            </a:extLst>
          </p:cNvPr>
          <p:cNvSpPr/>
          <p:nvPr/>
        </p:nvSpPr>
        <p:spPr>
          <a:xfrm>
            <a:off x="845018" y="42503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Sol 1: Baseline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9EAEE6D4-2E8B-0A86-2936-356E026374CA}"/>
              </a:ext>
            </a:extLst>
          </p:cNvPr>
          <p:cNvSpPr/>
          <p:nvPr/>
        </p:nvSpPr>
        <p:spPr>
          <a:xfrm>
            <a:off x="3815822" y="42503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Sol 2: Unrolled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6D7F2B39-1721-69D0-70CF-FAC3A4106D80}"/>
              </a:ext>
            </a:extLst>
          </p:cNvPr>
          <p:cNvSpPr/>
          <p:nvPr/>
        </p:nvSpPr>
        <p:spPr>
          <a:xfrm>
            <a:off x="6638428" y="42503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Sol 3: Pipelined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63B34BE-1CD6-D4C8-7DE4-DA3C134BAC36}"/>
              </a:ext>
            </a:extLst>
          </p:cNvPr>
          <p:cNvSpPr/>
          <p:nvPr/>
        </p:nvSpPr>
        <p:spPr>
          <a:xfrm>
            <a:off x="9660155" y="42503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Sol 4: Dataflow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86BF48D1-2143-7F8A-5C5C-979DF033C6F5}"/>
              </a:ext>
            </a:extLst>
          </p:cNvPr>
          <p:cNvSpPr/>
          <p:nvPr/>
        </p:nvSpPr>
        <p:spPr>
          <a:xfrm>
            <a:off x="500115" y="4855932"/>
            <a:ext cx="246828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Sequential loops. No optimization. Minimal resource usage.</a:t>
            </a:r>
            <a:endParaRPr lang="en-US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DC25BCEB-0142-EF0A-2F9C-FD82B27C3319}"/>
              </a:ext>
            </a:extLst>
          </p:cNvPr>
          <p:cNvSpPr/>
          <p:nvPr/>
        </p:nvSpPr>
        <p:spPr>
          <a:xfrm>
            <a:off x="3393113" y="4855932"/>
            <a:ext cx="243819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Loop unrolling. All iterations execute in parallel. </a:t>
            </a:r>
            <a:endParaRPr lang="en-US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6E20D37C-DBA8-DBE2-83F9-477D080A6AC2}"/>
              </a:ext>
            </a:extLst>
          </p:cNvPr>
          <p:cNvSpPr/>
          <p:nvPr/>
        </p:nvSpPr>
        <p:spPr>
          <a:xfrm>
            <a:off x="6285598" y="4855932"/>
            <a:ext cx="253445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Continuous throughput. Overlapping execution stages.</a:t>
            </a:r>
            <a:endParaRPr lang="en-US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94247E3-B569-51B6-E4E3-2A3FD4B46026}"/>
              </a:ext>
            </a:extLst>
          </p:cNvPr>
          <p:cNvSpPr/>
          <p:nvPr/>
        </p:nvSpPr>
        <p:spPr>
          <a:xfrm>
            <a:off x="9208168" y="4855932"/>
            <a:ext cx="248371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Ping-pong memory buffers. Task-level parallelism.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8A43-A549-6BB2-7730-0CA54CC9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C777A-561B-C1C6-2FCD-74CB9D9B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CC4E3E5-6A2A-1B4C-20FB-068752715431}"/>
              </a:ext>
            </a:extLst>
          </p:cNvPr>
          <p:cNvSpPr/>
          <p:nvPr/>
        </p:nvSpPr>
        <p:spPr>
          <a:xfrm>
            <a:off x="505326" y="25019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THE FOUR HLS ARCHITECTURES</a:t>
            </a:r>
            <a:endParaRPr lang="en-US" sz="3600" dirty="0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118D99ED-96C8-51C7-0FFD-98278C105C48}"/>
              </a:ext>
            </a:extLst>
          </p:cNvPr>
          <p:cNvSpPr/>
          <p:nvPr/>
        </p:nvSpPr>
        <p:spPr>
          <a:xfrm>
            <a:off x="1270538" y="1349142"/>
            <a:ext cx="3719155" cy="224108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091D4B2C-C789-ACB3-8A4B-9B477C29341E}"/>
              </a:ext>
            </a:extLst>
          </p:cNvPr>
          <p:cNvSpPr/>
          <p:nvPr/>
        </p:nvSpPr>
        <p:spPr>
          <a:xfrm>
            <a:off x="7202309" y="1409527"/>
            <a:ext cx="3755847" cy="2241082"/>
          </a:xfrm>
          <a:prstGeom prst="rect">
            <a:avLst/>
          </a:prstGeom>
          <a:solidFill>
            <a:srgbClr val="FFF3E0"/>
          </a:solidFill>
          <a:ln w="2857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2E2CF6D0-822D-F804-AB20-3C87C5ACD657}"/>
              </a:ext>
            </a:extLst>
          </p:cNvPr>
          <p:cNvSpPr/>
          <p:nvPr/>
        </p:nvSpPr>
        <p:spPr>
          <a:xfrm>
            <a:off x="1270538" y="4186256"/>
            <a:ext cx="3682463" cy="224108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9DFC625-25BC-5133-9F99-D839046553EB}"/>
              </a:ext>
            </a:extLst>
          </p:cNvPr>
          <p:cNvSpPr/>
          <p:nvPr/>
        </p:nvSpPr>
        <p:spPr>
          <a:xfrm>
            <a:off x="7238999" y="4115268"/>
            <a:ext cx="3719157" cy="224108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465C398-0311-CC77-8F88-ADB56CD4FB51}"/>
              </a:ext>
            </a:extLst>
          </p:cNvPr>
          <p:cNvSpPr/>
          <p:nvPr/>
        </p:nvSpPr>
        <p:spPr>
          <a:xfrm>
            <a:off x="1468154" y="1495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Sol 1: Baseline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8F520EF-C2A0-FB1F-6AB0-A1813D57B5BD}"/>
              </a:ext>
            </a:extLst>
          </p:cNvPr>
          <p:cNvSpPr/>
          <p:nvPr/>
        </p:nvSpPr>
        <p:spPr>
          <a:xfrm>
            <a:off x="7453166" y="1567141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Sol 2: Unrolled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4D7DBD3-4213-A89E-9F37-8E6CDA4D8AE2}"/>
              </a:ext>
            </a:extLst>
          </p:cNvPr>
          <p:cNvSpPr/>
          <p:nvPr/>
        </p:nvSpPr>
        <p:spPr>
          <a:xfrm>
            <a:off x="1468154" y="433253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Sol 3: Pipelined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B3BBD5ED-6B29-14C4-7A45-5E63F9D33C38}"/>
              </a:ext>
            </a:extLst>
          </p:cNvPr>
          <p:cNvSpPr/>
          <p:nvPr/>
        </p:nvSpPr>
        <p:spPr>
          <a:xfrm>
            <a:off x="7453166" y="425816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Sol 4: Dataflow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C1ABEA88-76FF-430B-F394-89D8AA63AE20}"/>
              </a:ext>
            </a:extLst>
          </p:cNvPr>
          <p:cNvSpPr/>
          <p:nvPr/>
        </p:nvSpPr>
        <p:spPr>
          <a:xfrm>
            <a:off x="1422634" y="2476019"/>
            <a:ext cx="33258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Loops run sequentially. Minimal area. Slow. Predictable but weak SCA signal.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57948255-91F7-412E-049D-D4B346B716C7}"/>
              </a:ext>
            </a:extLst>
          </p:cNvPr>
          <p:cNvSpPr/>
          <p:nvPr/>
        </p:nvSpPr>
        <p:spPr>
          <a:xfrm>
            <a:off x="7338870" y="2552742"/>
            <a:ext cx="3460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All loop iterations execute simultaneously. Largest parallel switching activity. Best for SCA.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CF51D363-B984-1E0A-99D1-224AEFC7217D}"/>
              </a:ext>
            </a:extLst>
          </p:cNvPr>
          <p:cNvSpPr/>
          <p:nvPr/>
        </p:nvSpPr>
        <p:spPr>
          <a:xfrm>
            <a:off x="1468153" y="5182857"/>
            <a:ext cx="328030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New data accepted every clock cycle. Continuous throughput. High FF usage from registers</a:t>
            </a:r>
            <a:endParaRPr lang="en-US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DC2EF85-96A3-2ABE-B44C-762CE8D187BF}"/>
              </a:ext>
            </a:extLst>
          </p:cNvPr>
          <p:cNvSpPr/>
          <p:nvPr/>
        </p:nvSpPr>
        <p:spPr>
          <a:xfrm>
            <a:off x="7388998" y="5182857"/>
            <a:ext cx="3410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Producer consumer task parallelism. Ping-pong buffering between pipeline stages.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641DDEC8-82D8-D173-31FD-FA0DFD864433}"/>
              </a:ext>
            </a:extLst>
          </p:cNvPr>
          <p:cNvSpPr/>
          <p:nvPr/>
        </p:nvSpPr>
        <p:spPr>
          <a:xfrm>
            <a:off x="1270537" y="1932308"/>
            <a:ext cx="3719155" cy="329184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40240D6E-5C2E-3DFA-0915-34302D9242ED}"/>
              </a:ext>
            </a:extLst>
          </p:cNvPr>
          <p:cNvSpPr/>
          <p:nvPr/>
        </p:nvSpPr>
        <p:spPr>
          <a:xfrm>
            <a:off x="7209680" y="1957235"/>
            <a:ext cx="3719155" cy="329184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2C7F4C7E-A8DB-84D1-BEEC-4BB0388285A8}"/>
              </a:ext>
            </a:extLst>
          </p:cNvPr>
          <p:cNvSpPr/>
          <p:nvPr/>
        </p:nvSpPr>
        <p:spPr>
          <a:xfrm>
            <a:off x="1248729" y="4730235"/>
            <a:ext cx="3719155" cy="329184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EC472AA6-9E1B-B226-268B-F798CAFB0826}"/>
              </a:ext>
            </a:extLst>
          </p:cNvPr>
          <p:cNvSpPr/>
          <p:nvPr/>
        </p:nvSpPr>
        <p:spPr>
          <a:xfrm>
            <a:off x="7239803" y="4686020"/>
            <a:ext cx="3719155" cy="329184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DD2DD29B-1F3B-A74F-D499-FAD77C763A22}"/>
              </a:ext>
            </a:extLst>
          </p:cNvPr>
          <p:cNvSpPr/>
          <p:nvPr/>
        </p:nvSpPr>
        <p:spPr>
          <a:xfrm>
            <a:off x="1219705" y="1968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20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DC7C2DEA-BEA3-B5DD-8DA6-5EB323DD0DB7}"/>
              </a:ext>
            </a:extLst>
          </p:cNvPr>
          <p:cNvSpPr/>
          <p:nvPr/>
        </p:nvSpPr>
        <p:spPr>
          <a:xfrm>
            <a:off x="7229031" y="198466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UNROLL</a:t>
            </a:r>
            <a:endParaRPr lang="en-US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8FA6EBC9-5308-CAC3-B266-EFFD26BA6829}"/>
              </a:ext>
            </a:extLst>
          </p:cNvPr>
          <p:cNvSpPr/>
          <p:nvPr/>
        </p:nvSpPr>
        <p:spPr>
          <a:xfrm>
            <a:off x="1332092" y="475766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PIPELINE</a:t>
            </a:r>
            <a:endParaRPr lang="en-US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BF4CFE71-06A2-ECD4-9EBB-E47FFFA95181}"/>
              </a:ext>
            </a:extLst>
          </p:cNvPr>
          <p:cNvSpPr/>
          <p:nvPr/>
        </p:nvSpPr>
        <p:spPr>
          <a:xfrm>
            <a:off x="7285671" y="47134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DATAFLOW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388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38949-32C0-F97E-A439-3BE3415C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84DB247-53D0-5EA9-02BE-B98AA4F74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3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Performance &amp; area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FE35F-02EC-410D-BB30-AFABF38A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8704A3B0-8305-13BD-1934-E49B215F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903799"/>
              </p:ext>
            </p:extLst>
          </p:nvPr>
        </p:nvGraphicFramePr>
        <p:xfrm>
          <a:off x="1126958" y="1639439"/>
          <a:ext cx="10226842" cy="4594492"/>
        </p:xfrm>
        <a:graphic>
          <a:graphicData uri="http://schemas.openxmlformats.org/drawingml/2006/table">
            <a:tbl>
              <a:tblPr/>
              <a:tblGrid>
                <a:gridCol w="1931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1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63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Sol 1 — Baseline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7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Sol 2 — Unrolled ★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Sol 3 — Pipelined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Sol 4 — Dataflow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3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LUTs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8,075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734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11,540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11,811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10,937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3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Flip-Flops (FFs)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3,923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734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5,160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7,823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4,816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3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Clock Freq (MHz)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123.7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123.5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B4D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137.2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125.2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3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Latency (cycles)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~20 cyc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734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~10 cyc ✓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~22 cyc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~18 cyc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3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Loop Unrolling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734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Full ✓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3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Best for SCA?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A734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★ Best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136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98" y="449179"/>
            <a:ext cx="8959307" cy="673768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Solution 2: unrolled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1354B4-3729-EEC9-BD0C-CBAECC6A2314}"/>
              </a:ext>
            </a:extLst>
          </p:cNvPr>
          <p:cNvSpPr txBox="1"/>
          <p:nvPr/>
        </p:nvSpPr>
        <p:spPr>
          <a:xfrm>
            <a:off x="553661" y="2143035"/>
            <a:ext cx="108001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50 % Latency reduction over Baseline (10 vs ~20 cycles)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MAX Parallel transistor switching — loudest SCA signal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Deterministic timing — trivial waveform alignment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Full loop unrolling, all S-Box operations exposed simultaneously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567BC-C9CD-5FBC-3662-435787CD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CCCF-4665-C270-F163-C85F7700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61" y="689810"/>
            <a:ext cx="9969960" cy="673768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Why solution 2 maximizes power spikes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3027A-FFF1-FD80-4B26-8C626D37E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79A53D4-C5C2-FAA7-CA4B-75F14772F5BB}"/>
              </a:ext>
            </a:extLst>
          </p:cNvPr>
          <p:cNvSpPr/>
          <p:nvPr/>
        </p:nvSpPr>
        <p:spPr>
          <a:xfrm>
            <a:off x="553661" y="157212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3D"/>
                </a:solidFill>
                <a:ea typeface="Calibri" pitchFamily="34" charset="-122"/>
                <a:cs typeface="Calibri" pitchFamily="34" charset="-120"/>
              </a:rPr>
              <a:t>How Loop Unrolling Amplifies Power Leakage:</a:t>
            </a:r>
            <a:endParaRPr lang="en-US" sz="24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E3874D0-F213-AB0B-A493-455A20622CDF}"/>
              </a:ext>
            </a:extLst>
          </p:cNvPr>
          <p:cNvSpPr/>
          <p:nvPr/>
        </p:nvSpPr>
        <p:spPr>
          <a:xfrm>
            <a:off x="874294" y="2330350"/>
            <a:ext cx="4644189" cy="402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F2C5B6D-4C70-4AF9-B309-668CF41548F9}"/>
              </a:ext>
            </a:extLst>
          </p:cNvPr>
          <p:cNvSpPr/>
          <p:nvPr/>
        </p:nvSpPr>
        <p:spPr>
          <a:xfrm>
            <a:off x="874295" y="2330350"/>
            <a:ext cx="4644188" cy="701608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07942F5-4B7E-1104-2181-89C00344761A}"/>
              </a:ext>
            </a:extLst>
          </p:cNvPr>
          <p:cNvSpPr/>
          <p:nvPr/>
        </p:nvSpPr>
        <p:spPr>
          <a:xfrm>
            <a:off x="1354162" y="2439647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Baseline (Sequential)</a:t>
            </a:r>
            <a:endParaRPr lang="en-US" sz="28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A2BAE127-B542-6F41-A7B4-D3508E86CDA6}"/>
              </a:ext>
            </a:extLst>
          </p:cNvPr>
          <p:cNvSpPr/>
          <p:nvPr/>
        </p:nvSpPr>
        <p:spPr>
          <a:xfrm>
            <a:off x="1283577" y="3252041"/>
            <a:ext cx="378733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S-Box round 1 executes.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Wait for round 2...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Wait for round 3...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Signal smeared across time.</a:t>
            </a:r>
            <a:endParaRPr lang="en-US" sz="2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CPA needs many traces.</a:t>
            </a:r>
            <a:endParaRPr lang="en-US" sz="20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B8ABF24E-687B-95B5-F783-E2E814F10257}"/>
              </a:ext>
            </a:extLst>
          </p:cNvPr>
          <p:cNvSpPr/>
          <p:nvPr/>
        </p:nvSpPr>
        <p:spPr>
          <a:xfrm>
            <a:off x="6938212" y="2330350"/>
            <a:ext cx="4415588" cy="4026000"/>
          </a:xfrm>
          <a:prstGeom prst="rect">
            <a:avLst/>
          </a:prstGeom>
          <a:solidFill>
            <a:srgbClr val="F0FFF4"/>
          </a:solidFill>
          <a:ln w="254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7FB1B194-4B32-104D-B498-2B1B792DB0E7}"/>
              </a:ext>
            </a:extLst>
          </p:cNvPr>
          <p:cNvSpPr/>
          <p:nvPr/>
        </p:nvSpPr>
        <p:spPr>
          <a:xfrm>
            <a:off x="6938211" y="2330350"/>
            <a:ext cx="4415587" cy="701608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FAFA830-7BE5-E848-EEF1-853B3C231F5F}"/>
              </a:ext>
            </a:extLst>
          </p:cNvPr>
          <p:cNvSpPr/>
          <p:nvPr/>
        </p:nvSpPr>
        <p:spPr>
          <a:xfrm>
            <a:off x="7604759" y="2439647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Unrolled (Parallel)</a:t>
            </a:r>
            <a:endParaRPr lang="en-US" sz="28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8368918-69FE-E06B-BBB8-AB2A093D3D5B}"/>
              </a:ext>
            </a:extLst>
          </p:cNvPr>
          <p:cNvSpPr/>
          <p:nvPr/>
        </p:nvSpPr>
        <p:spPr>
          <a:xfrm>
            <a:off x="7123897" y="3266814"/>
            <a:ext cx="4044213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ALL S-Box rounds fire simultaneously.</a:t>
            </a:r>
            <a:endParaRPr lang="en-US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Thousands of gates switch at once.</a:t>
            </a:r>
            <a:endParaRPr lang="en-US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Massive instantaneous current spike.</a:t>
            </a:r>
            <a:endParaRPr lang="en-US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Signal concentrated at one time point.</a:t>
            </a:r>
            <a:endParaRPr lang="en-US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2B2D42"/>
                </a:solidFill>
                <a:ea typeface="Calibri" pitchFamily="34" charset="-122"/>
                <a:cs typeface="Calibri" pitchFamily="34" charset="-120"/>
              </a:rPr>
              <a:t>CPA needs far fewer traces!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975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81B93-6DF0-3BE0-A3A9-5952611A3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D8C8-428C-B554-224F-191CBE5EC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29" y="469924"/>
            <a:ext cx="9440571" cy="673768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Current status and future roadmap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6E26E-3CA5-8E6A-D12D-91783DEE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07DE6629-FEEE-AFD9-1E84-4B701C7AC2D0}"/>
              </a:ext>
            </a:extLst>
          </p:cNvPr>
          <p:cNvSpPr/>
          <p:nvPr/>
        </p:nvSpPr>
        <p:spPr>
          <a:xfrm>
            <a:off x="4332772" y="1341867"/>
            <a:ext cx="3526456" cy="4816308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A10D0559-89A5-4BDE-E92B-0ED2AA9E4E0B}"/>
              </a:ext>
            </a:extLst>
          </p:cNvPr>
          <p:cNvSpPr/>
          <p:nvPr/>
        </p:nvSpPr>
        <p:spPr>
          <a:xfrm>
            <a:off x="541629" y="1370120"/>
            <a:ext cx="3526456" cy="4816308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18D8A9CD-6EF4-D71E-56DA-4710AFD66502}"/>
              </a:ext>
            </a:extLst>
          </p:cNvPr>
          <p:cNvSpPr/>
          <p:nvPr/>
        </p:nvSpPr>
        <p:spPr>
          <a:xfrm>
            <a:off x="8123915" y="1370120"/>
            <a:ext cx="3526456" cy="4816308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C8525AB-50CE-D23A-1D78-33BE2322540C}"/>
              </a:ext>
            </a:extLst>
          </p:cNvPr>
          <p:cNvSpPr/>
          <p:nvPr/>
        </p:nvSpPr>
        <p:spPr>
          <a:xfrm>
            <a:off x="1507765" y="149416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Completed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AAB07841-D0F9-0880-CF03-C1FD9917AAFD}"/>
              </a:ext>
            </a:extLst>
          </p:cNvPr>
          <p:cNvSpPr/>
          <p:nvPr/>
        </p:nvSpPr>
        <p:spPr>
          <a:xfrm>
            <a:off x="5363128" y="149416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In Progress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E64BC56F-A748-15B5-2985-C8E2802EC225}"/>
              </a:ext>
            </a:extLst>
          </p:cNvPr>
          <p:cNvSpPr/>
          <p:nvPr/>
        </p:nvSpPr>
        <p:spPr>
          <a:xfrm>
            <a:off x="9218491" y="149416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Upcoming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E25849-1A1E-B97A-112C-47131D44459A}"/>
              </a:ext>
            </a:extLst>
          </p:cNvPr>
          <p:cNvSpPr txBox="1"/>
          <p:nvPr/>
        </p:nvSpPr>
        <p:spPr>
          <a:xfrm>
            <a:off x="724709" y="2038828"/>
            <a:ext cx="31602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Software SPA on CW Nano  Password bypass + HW analysis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DPA on Firmware AES  Full 16-byte key recovery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CPA on Firmware AES  Key recovery using 200 traces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Ascon-128 adaptation for Vitis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HLS Design Space Exploration 4 architectures benchmarked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IP Core Generation  Solution 2 (Unrolled)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1B995A-4CB5-F795-4739-DA1EC4C45ADD}"/>
              </a:ext>
            </a:extLst>
          </p:cNvPr>
          <p:cNvSpPr txBox="1"/>
          <p:nvPr/>
        </p:nvSpPr>
        <p:spPr>
          <a:xfrm>
            <a:off x="4580021" y="2112961"/>
            <a:ext cx="30319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Vivado Block Design, Mapping IP core + MIG + UART integration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Bitstream generation and FPGA programming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2E8E16-57FA-8C35-573A-12F1E60CE8F3}"/>
              </a:ext>
            </a:extLst>
          </p:cNvPr>
          <p:cNvSpPr txBox="1"/>
          <p:nvPr/>
        </p:nvSpPr>
        <p:spPr>
          <a:xfrm>
            <a:off x="8309811" y="2141214"/>
            <a:ext cx="31574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From CW305 physical power trace capture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CPA on Ascon-128 hardware,  128-bit key recovery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Software vs Hardware CPA trace comparison</a:t>
            </a:r>
          </a:p>
        </p:txBody>
      </p:sp>
    </p:spTree>
    <p:extLst>
      <p:ext uri="{BB962C8B-B14F-4D97-AF65-F5344CB8AC3E}">
        <p14:creationId xmlns:p14="http://schemas.microsoft.com/office/powerpoint/2010/main" val="4004063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704" y="2711116"/>
            <a:ext cx="4178970" cy="914399"/>
          </a:xfrm>
        </p:spPr>
        <p:txBody>
          <a:bodyPr/>
          <a:lstStyle/>
          <a:p>
            <a:r>
              <a:rPr lang="en-US" sz="5400" b="1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826412-200C-42D7-7FF2-FAC26914D2C2}"/>
              </a:ext>
            </a:extLst>
          </p:cNvPr>
          <p:cNvSpPr txBox="1"/>
          <p:nvPr/>
        </p:nvSpPr>
        <p:spPr>
          <a:xfrm>
            <a:off x="4920916" y="4507587"/>
            <a:ext cx="67537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NewAE Technology Inc:</a:t>
            </a:r>
            <a:r>
              <a:rPr lang="en-US" dirty="0"/>
              <a:t> All labs and hardware setups are based on their open-source ChipWhisperer educational content.</a:t>
            </a:r>
          </a:p>
          <a:p>
            <a:r>
              <a:rPr lang="en-US" b="1" dirty="0"/>
              <a:t>Ascon:</a:t>
            </a:r>
            <a:r>
              <a:rPr lang="en-US" dirty="0"/>
              <a:t> For the open-source Ascon-128 reference implementation (NIST LWC Winner) used as the baseline for our hardware synthesis.</a:t>
            </a:r>
          </a:p>
          <a:p>
            <a:pPr algn="just"/>
            <a:r>
              <a:rPr lang="en-US" sz="1800" dirty="0"/>
              <a:t>Thanks </a:t>
            </a:r>
            <a:r>
              <a:rPr lang="en-US" sz="1800" b="1" dirty="0"/>
              <a:t>to Prof. Sharad Sinha</a:t>
            </a:r>
            <a:r>
              <a:rPr lang="en-US" sz="1800" dirty="0"/>
              <a:t> for guidance.</a:t>
            </a:r>
          </a:p>
          <a:p>
            <a:pPr algn="just"/>
            <a:r>
              <a:rPr lang="en-US" sz="1800" dirty="0"/>
              <a:t>Thanks to </a:t>
            </a:r>
            <a:r>
              <a:rPr lang="en-US" sz="1800" b="1" dirty="0"/>
              <a:t>IIT Goa </a:t>
            </a:r>
            <a:r>
              <a:rPr lang="en-US" sz="1800" dirty="0"/>
              <a:t>for providing resources.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1845F9-C5F4-4AA5-BA9E-EC2182E914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5BFCE94-6EC9-4D8E-89B6-C22DE7AD70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1092</TotalTime>
  <Words>1662</Words>
  <Application>Microsoft Office PowerPoint</Application>
  <PresentationFormat>Widescreen</PresentationFormat>
  <Paragraphs>248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Tenorite</vt:lpstr>
      <vt:lpstr>Monoline</vt:lpstr>
      <vt:lpstr>From Software to Hardware: Side-Channel Attacks on Ascon-128 via FPGA</vt:lpstr>
      <vt:lpstr>Agenda</vt:lpstr>
      <vt:lpstr>the security flaw in physical devices</vt:lpstr>
      <vt:lpstr>Phase 1: Chipwhisperer nano</vt:lpstr>
      <vt:lpstr>Simple power analysis (spa)</vt:lpstr>
      <vt:lpstr>Differential power analysis (dpa)</vt:lpstr>
      <vt:lpstr>Correlation power analysis</vt:lpstr>
      <vt:lpstr>CPA vs Firmware aes</vt:lpstr>
      <vt:lpstr>Moving to hardware (cw305 artix-7 fpga)</vt:lpstr>
      <vt:lpstr>cw305 artix-7 fpga target board</vt:lpstr>
      <vt:lpstr>Target: ascon-128 (nist winner 2023) </vt:lpstr>
      <vt:lpstr>Ascon sponge construction </vt:lpstr>
      <vt:lpstr>Automated hardware workflow (vitis hls)</vt:lpstr>
      <vt:lpstr>IP Core Interface</vt:lpstr>
      <vt:lpstr>Software to hardware bridging</vt:lpstr>
      <vt:lpstr>PowerPoint Presentation</vt:lpstr>
      <vt:lpstr>PowerPoint Presentation</vt:lpstr>
      <vt:lpstr>PowerPoint Presentation</vt:lpstr>
      <vt:lpstr>Performance &amp; area metrics</vt:lpstr>
      <vt:lpstr>Solution 2: unrolled architecture</vt:lpstr>
      <vt:lpstr>Why solution 2 maximizes power spikes</vt:lpstr>
      <vt:lpstr>Current status and future roadmap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Rupesh Bhusare</dc:creator>
  <cp:lastModifiedBy>Rupesh Bhusare</cp:lastModifiedBy>
  <cp:revision>6</cp:revision>
  <dcterms:created xsi:type="dcterms:W3CDTF">2025-12-04T22:02:32Z</dcterms:created>
  <dcterms:modified xsi:type="dcterms:W3CDTF">2026-05-12T09:59:32Z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